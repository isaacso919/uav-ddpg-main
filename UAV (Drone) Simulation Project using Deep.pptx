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3" r:id="rId6"/>
    <p:sldId id="262" r:id="rId7"/>
    <p:sldId id="261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6A99BB0-678B-421D-8AB4-6BA699AF8FAB}">
          <p14:sldIdLst>
            <p14:sldId id="256"/>
            <p14:sldId id="258"/>
            <p14:sldId id="257"/>
            <p14:sldId id="259"/>
          </p14:sldIdLst>
        </p14:section>
        <p14:section name="The implementation" id="{F39C1909-793B-4376-BA66-2DF5B61CB5B4}">
          <p14:sldIdLst>
            <p14:sldId id="263"/>
            <p14:sldId id="262"/>
            <p14:sldId id="261"/>
            <p14:sldId id="264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068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80575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9788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3458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1757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34623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06588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32148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90927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1648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3043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99571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0691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89874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1801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12779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38657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2379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5FF076B-8ACC-4DB9-A0C5-361AD64F3343}" type="datetimeFigureOut">
              <a:rPr lang="zh-HK" altLang="en-US" smtClean="0"/>
              <a:t>1/5/2025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1481-CFB7-4C88-9978-8C99C2FAF048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542901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2961BF-1AD6-F099-9D0B-9A3CC0848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58" y="1447800"/>
            <a:ext cx="11191163" cy="3329581"/>
          </a:xfrm>
        </p:spPr>
        <p:txBody>
          <a:bodyPr/>
          <a:lstStyle/>
          <a:p>
            <a:r>
              <a:rPr lang="en-US" altLang="zh-HK" sz="6000" b="1" dirty="0"/>
              <a:t>UAV (Drone) Simulation Project</a:t>
            </a:r>
            <a:r>
              <a:rPr lang="en-US" altLang="zh-HK" sz="6000" dirty="0"/>
              <a:t> using </a:t>
            </a:r>
            <a:r>
              <a:rPr lang="en-US" altLang="zh-HK" sz="6000" b="1" dirty="0"/>
              <a:t>Deep Reinforcement Learning (DRL)</a:t>
            </a:r>
            <a:endParaRPr lang="zh-HK" altLang="en-US" sz="60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6A4D6CC-C308-0B3F-22E6-EAA9B6A57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HK" dirty="0"/>
              <a:t>Wai Shek So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126607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72D859-C6E7-C5E6-D792-5B9E3F8C0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Why is it important?/ Why do I choose this topic.</a:t>
            </a:r>
            <a:endParaRPr lang="zh-HK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88BA310-D9CE-5F67-8903-A95D22AEF545}"/>
              </a:ext>
            </a:extLst>
          </p:cNvPr>
          <p:cNvSpPr txBox="1"/>
          <p:nvPr/>
        </p:nvSpPr>
        <p:spPr>
          <a:xfrm>
            <a:off x="498143" y="1774209"/>
            <a:ext cx="1112292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TW" sz="2800" dirty="0"/>
          </a:p>
          <a:p>
            <a:r>
              <a:rPr lang="en-US" altLang="zh-TW" sz="2800" dirty="0"/>
              <a:t>During research I found there being a gap,</a:t>
            </a:r>
            <a:r>
              <a:rPr lang="zh-HK" altLang="en-US" sz="2800" dirty="0"/>
              <a:t> a challenge </a:t>
            </a:r>
            <a:r>
              <a:rPr lang="en-US" altLang="zh-HK" sz="2800" dirty="0"/>
              <a:t>where UAV </a:t>
            </a:r>
            <a:r>
              <a:rPr lang="zh-HK" altLang="en-US" sz="2800" dirty="0"/>
              <a:t>is their limited onboard energy and the need for real-time computation.</a:t>
            </a:r>
            <a:endParaRPr lang="en-US" altLang="zh-HK" sz="2800" dirty="0"/>
          </a:p>
          <a:p>
            <a:endParaRPr lang="en-US" altLang="zh-HK" sz="2800" dirty="0"/>
          </a:p>
          <a:p>
            <a:r>
              <a:rPr lang="zh-HK" altLang="en-US" sz="2800" dirty="0"/>
              <a:t>With recent trends like 5G, edge computing, and autonomous UAV swarms, it</a:t>
            </a:r>
            <a:r>
              <a:rPr lang="en-US" altLang="zh-HK" sz="2800" dirty="0"/>
              <a:t>’</a:t>
            </a:r>
            <a:r>
              <a:rPr lang="zh-HK" altLang="en-US" sz="2800" dirty="0"/>
              <a:t>s to develop intelligent control systems that can manage energy and computational trade-offs efficiently.</a:t>
            </a:r>
          </a:p>
        </p:txBody>
      </p:sp>
    </p:spTree>
    <p:extLst>
      <p:ext uri="{BB962C8B-B14F-4D97-AF65-F5344CB8AC3E}">
        <p14:creationId xmlns:p14="http://schemas.microsoft.com/office/powerpoint/2010/main" val="107885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3B59F2-26C8-D8D5-BC40-66080D29A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801" y="609601"/>
            <a:ext cx="9404723" cy="1400530"/>
          </a:xfrm>
        </p:spPr>
        <p:txBody>
          <a:bodyPr/>
          <a:lstStyle/>
          <a:p>
            <a:r>
              <a:rPr lang="en-US" altLang="zh-HK" dirty="0"/>
              <a:t>Something about my project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63C227-DE45-9601-6AAC-9239FC43F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sz="2800" dirty="0">
                <a:latin typeface="+mn-lt"/>
                <a:ea typeface="+mn-ea"/>
                <a:cs typeface="+mn-cs"/>
              </a:rPr>
              <a:t>My project is a UAV (Drone) Simulation Project using Deep Reinforcement Learning (DRL) to optimize energy-efficient UAV path planning and task offloading. </a:t>
            </a:r>
          </a:p>
          <a:p>
            <a:endParaRPr lang="en-US" altLang="zh-HK" sz="2800" dirty="0">
              <a:latin typeface="+mn-lt"/>
              <a:ea typeface="+mn-ea"/>
              <a:cs typeface="+mn-cs"/>
            </a:endParaRPr>
          </a:p>
          <a:p>
            <a:r>
              <a:rPr lang="en-US" altLang="zh-HK" sz="2800" dirty="0">
                <a:latin typeface="+mn-lt"/>
                <a:ea typeface="+mn-ea"/>
                <a:cs typeface="+mn-cs"/>
              </a:rPr>
              <a:t>The system simulates how a drone serves multiple user devices (UEs) by choosing how to move and compute while balancing energy use and task latency.</a:t>
            </a:r>
            <a:endParaRPr lang="zh-HK" altLang="en-US" sz="28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632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48082D-DCBC-DCB6-8905-ED0D941C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Project Goal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1DA3C1-53AA-6C26-9FE5-D45117EFC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83140"/>
            <a:ext cx="9043798" cy="4665259"/>
          </a:xfrm>
        </p:spPr>
        <p:txBody>
          <a:bodyPr>
            <a:normAutofit fontScale="92500" lnSpcReduction="10000"/>
          </a:bodyPr>
          <a:lstStyle/>
          <a:p>
            <a:r>
              <a:rPr lang="en-US" altLang="zh-HK" sz="2800" dirty="0"/>
              <a:t>My goal was to simulate a UAV network where a drone:</a:t>
            </a:r>
          </a:p>
          <a:p>
            <a:pPr lvl="1"/>
            <a:r>
              <a:rPr lang="en-US" altLang="zh-HK" sz="2400" dirty="0"/>
              <a:t>Moves across a defined area,</a:t>
            </a:r>
          </a:p>
          <a:p>
            <a:pPr lvl="1"/>
            <a:r>
              <a:rPr lang="en-US" altLang="zh-HK" sz="2400" dirty="0"/>
              <a:t>Selects which user to serve,</a:t>
            </a:r>
          </a:p>
          <a:p>
            <a:pPr lvl="1"/>
            <a:r>
              <a:rPr lang="en-US" altLang="zh-HK" sz="2400" dirty="0"/>
              <a:t>Decides how much of the user’s task to offload,</a:t>
            </a:r>
          </a:p>
          <a:p>
            <a:pPr lvl="1"/>
            <a:r>
              <a:rPr lang="en-US" altLang="zh-HK" sz="2400" dirty="0"/>
              <a:t>And balances this with energy limits and computation delay.</a:t>
            </a:r>
          </a:p>
          <a:p>
            <a:pPr lvl="1"/>
            <a:endParaRPr lang="en-US" altLang="zh-HK" sz="2400" dirty="0"/>
          </a:p>
          <a:p>
            <a:r>
              <a:rPr lang="en-US" altLang="zh-HK" sz="2800" dirty="0"/>
              <a:t>The core technique used was Deep Reinforcement Learning, specifically a DRL framework that learns optimal strategies from experience.</a:t>
            </a:r>
            <a:endParaRPr lang="zh-HK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2141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2205B0-B748-F1CB-DC0C-3E86B694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How It Works (Environment + Agent)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087696-414F-A25F-3D77-D9822CB11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I</a:t>
            </a:r>
            <a:r>
              <a:rPr lang="zh-TW" altLang="en-US" dirty="0"/>
              <a:t> </a:t>
            </a:r>
            <a:r>
              <a:rPr lang="en-US" altLang="zh-HK" dirty="0"/>
              <a:t>built a custom environment that models:</a:t>
            </a:r>
          </a:p>
          <a:p>
            <a:r>
              <a:rPr lang="en-US" altLang="zh-HK" dirty="0"/>
              <a:t>User equipment (UEs) randomly located on a 100x100m grid.</a:t>
            </a:r>
          </a:p>
          <a:p>
            <a:r>
              <a:rPr lang="en-US" altLang="zh-HK" dirty="0"/>
              <a:t>Each UE has computational tasks and may be blocked by obstacles.</a:t>
            </a:r>
          </a:p>
          <a:p>
            <a:r>
              <a:rPr lang="en-US" altLang="zh-HK" dirty="0"/>
              <a:t>The UAV must </a:t>
            </a:r>
            <a:r>
              <a:rPr lang="en-US" altLang="zh-HK" dirty="0" err="1"/>
              <a:t>decide:Which</a:t>
            </a:r>
            <a:r>
              <a:rPr lang="en-US" altLang="zh-HK" dirty="0"/>
              <a:t> UE to serve,</a:t>
            </a:r>
          </a:p>
          <a:p>
            <a:r>
              <a:rPr lang="en-US" altLang="zh-HK" dirty="0"/>
              <a:t>What angle and distance to </a:t>
            </a:r>
            <a:r>
              <a:rPr lang="en-US" altLang="zh-HK" dirty="0" err="1"/>
              <a:t>fly,What</a:t>
            </a:r>
            <a:r>
              <a:rPr lang="en-US" altLang="zh-HK" dirty="0"/>
              <a:t> offloading ratio to use.</a:t>
            </a:r>
          </a:p>
          <a:p>
            <a:pPr lvl="1"/>
            <a:r>
              <a:rPr lang="en-US" altLang="zh-HK" dirty="0"/>
              <a:t>These choices affect:</a:t>
            </a:r>
          </a:p>
          <a:p>
            <a:pPr lvl="1"/>
            <a:r>
              <a:rPr lang="en-US" altLang="zh-HK" dirty="0"/>
              <a:t>Transmission delay</a:t>
            </a:r>
          </a:p>
          <a:p>
            <a:pPr lvl="1"/>
            <a:r>
              <a:rPr lang="en-US" altLang="zh-HK" dirty="0"/>
              <a:t>Computation time</a:t>
            </a:r>
          </a:p>
          <a:p>
            <a:pPr lvl="1"/>
            <a:r>
              <a:rPr lang="en-US" altLang="zh-HK" dirty="0"/>
              <a:t>Energy consumption </a:t>
            </a:r>
          </a:p>
          <a:p>
            <a:r>
              <a:rPr lang="en-US" altLang="zh-HK" dirty="0"/>
              <a:t>for flying, transmitting, and </a:t>
            </a:r>
            <a:r>
              <a:rPr lang="en-US" altLang="zh-HK" dirty="0" err="1"/>
              <a:t>processingThe</a:t>
            </a:r>
            <a:r>
              <a:rPr lang="en-US" altLang="zh-HK" dirty="0"/>
              <a:t> reward is calculated as the negative sum of energy and latency — so the agent learns to minimize both.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30493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884CC5-AFD3-2704-C6E1-C12928B0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Deep Reinforcement Learning Model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6F3A46-7645-9CAE-8D1C-A2EA9034B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I used a DRL algorithm based on the Actor-Critic architecture. The Actor proposes actions, and the Critic evaluates them. The neural networks are trained using experience replay and soft target </a:t>
            </a:r>
            <a:r>
              <a:rPr lang="en-US" altLang="zh-HK" dirty="0" err="1"/>
              <a:t>updates.Over</a:t>
            </a:r>
            <a:r>
              <a:rPr lang="en-US" altLang="zh-HK" dirty="0"/>
              <a:t> time, the agent learns to serve tasks efficiently and conserve UAV battery life.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52784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9ABA4D-4328-1235-588D-48EED262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K" altLang="en-US" dirty="0"/>
              <a:t>What I Added / My Contribution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614D63A-8F91-32EA-1B0C-84B60359B97A}"/>
              </a:ext>
            </a:extLst>
          </p:cNvPr>
          <p:cNvSpPr txBox="1"/>
          <p:nvPr/>
        </p:nvSpPr>
        <p:spPr>
          <a:xfrm>
            <a:off x="707977" y="2648130"/>
            <a:ext cx="109813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My </a:t>
            </a:r>
            <a:r>
              <a:rPr lang="zh-HK" altLang="en-US" dirty="0"/>
              <a:t>main addition to the original simulation was energy modeling:</a:t>
            </a:r>
            <a:endParaRPr lang="en-US" altLang="zh-HK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HK" altLang="en-US" dirty="0"/>
              <a:t>I implemented detailed calculations for:</a:t>
            </a:r>
            <a:endParaRPr lang="en-US" altLang="zh-HK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HK" altLang="en-US" dirty="0"/>
              <a:t>Communication energy</a:t>
            </a:r>
            <a:endParaRPr lang="en-US" altLang="zh-HK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HK" altLang="en-US" dirty="0"/>
              <a:t>Computation energy</a:t>
            </a:r>
            <a:endParaRPr lang="en-US" altLang="zh-HK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HK" altLang="en-US" dirty="0"/>
              <a:t>Propulsion energy</a:t>
            </a:r>
            <a:endParaRPr lang="en-US" altLang="zh-HK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HK" altLang="en-US" dirty="0"/>
              <a:t>Then, I integrated these into the reward function, so the agent learns from energy consumption directly.</a:t>
            </a:r>
            <a:endParaRPr lang="en-US" altLang="zh-HK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HK" altLang="en-US" dirty="0"/>
              <a:t>I also added logging and visualization features, and experimented with various DRL hyperparameters.</a:t>
            </a:r>
          </a:p>
        </p:txBody>
      </p:sp>
    </p:spTree>
    <p:extLst>
      <p:ext uri="{BB962C8B-B14F-4D97-AF65-F5344CB8AC3E}">
        <p14:creationId xmlns:p14="http://schemas.microsoft.com/office/powerpoint/2010/main" val="1433358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C08576-7467-7EFF-6B06-E14810B9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 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6C70D4-AD4E-CCB3-ED74-AB22078B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#reference: Mobile Edge Computing via a UAV-Mounted Cloudlet: Optimization of Bit Allocation and Path Planning</a:t>
            </a:r>
            <a:endParaRPr lang="en-US" altLang="zh-H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70259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046622-FB88-2F12-BAD3-33E1CC8A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Results Summary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9AEE7-275A-8D5F-825E-9C523B6FB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The</a:t>
            </a:r>
            <a:r>
              <a:rPr lang="zh-TW" altLang="en-US" dirty="0"/>
              <a:t> </a:t>
            </a:r>
            <a:r>
              <a:rPr lang="en-US" altLang="zh-HK" dirty="0"/>
              <a:t>DRL model learned an efficient policy:</a:t>
            </a:r>
          </a:p>
          <a:p>
            <a:pPr lvl="1"/>
            <a:r>
              <a:rPr lang="en-US" altLang="zh-HK" dirty="0"/>
              <a:t>Reduced overall delay</a:t>
            </a:r>
          </a:p>
          <a:p>
            <a:pPr lvl="1"/>
            <a:r>
              <a:rPr lang="en-US" altLang="zh-HK" dirty="0"/>
              <a:t>Conserved UAV energy</a:t>
            </a:r>
          </a:p>
          <a:p>
            <a:pPr lvl="1"/>
            <a:r>
              <a:rPr lang="en-US" altLang="zh-HK" dirty="0"/>
              <a:t>Completed tasks within power limits</a:t>
            </a:r>
          </a:p>
          <a:p>
            <a:r>
              <a:rPr lang="en-US" altLang="zh-HK" dirty="0"/>
              <a:t>Compared to the baseline, we saw improved path selection and smarter offloading </a:t>
            </a:r>
            <a:r>
              <a:rPr lang="en-US" altLang="zh-HK" dirty="0" err="1"/>
              <a:t>behaviour</a:t>
            </a:r>
            <a:r>
              <a:rPr lang="en-US" altLang="zh-HK" dirty="0"/>
              <a:t>.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7407625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">
  <a:themeElements>
    <a:clrScheme name="離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離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離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587</TotalTime>
  <Words>486</Words>
  <Application>Microsoft Office PowerPoint</Application>
  <PresentationFormat>寬螢幕</PresentationFormat>
  <Paragraphs>48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Century Gothic</vt:lpstr>
      <vt:lpstr>Consolas</vt:lpstr>
      <vt:lpstr>Wingdings</vt:lpstr>
      <vt:lpstr>Wingdings 3</vt:lpstr>
      <vt:lpstr>離子</vt:lpstr>
      <vt:lpstr>UAV (Drone) Simulation Project using Deep Reinforcement Learning (DRL)</vt:lpstr>
      <vt:lpstr>Why is it important?/ Why do I choose this topic.</vt:lpstr>
      <vt:lpstr>Something about my project</vt:lpstr>
      <vt:lpstr>Project Goal</vt:lpstr>
      <vt:lpstr>How It Works (Environment + Agent)</vt:lpstr>
      <vt:lpstr>Deep Reinforcement Learning Model</vt:lpstr>
      <vt:lpstr>What I Added / My Contribution</vt:lpstr>
      <vt:lpstr>Reference </vt:lpstr>
      <vt:lpstr>Results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So, Wai Shek</dc:creator>
  <cp:lastModifiedBy>So, Wai Shek</cp:lastModifiedBy>
  <cp:revision>2</cp:revision>
  <dcterms:created xsi:type="dcterms:W3CDTF">2025-04-30T17:04:42Z</dcterms:created>
  <dcterms:modified xsi:type="dcterms:W3CDTF">2025-05-01T22:30:02Z</dcterms:modified>
</cp:coreProperties>
</file>